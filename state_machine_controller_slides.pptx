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331720"/>
            <a:ext cx="12191695" cy="54864"/>
          </a:xfrm>
          <a:prstGeom prst="round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059936" y="2331720"/>
            <a:ext cx="4069080" cy="54864"/>
          </a:xfrm>
          <a:prstGeom prst="roundRect">
            <a:avLst/>
          </a:prstGeom>
          <a:solidFill>
            <a:srgbClr val="2EA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2331720"/>
            <a:ext cx="4069080" cy="54864"/>
          </a:xfrm>
          <a:prstGeom prst="roundRect">
            <a:avLst/>
          </a:prstGeom>
          <a:solidFill>
            <a:srgbClr val="D6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State Machine &amp; Per-State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794760"/>
            <a:ext cx="1069848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0">
                <a:solidFill>
                  <a:srgbClr val="B9C6E6"/>
                </a:solidFill>
                <a:latin typeface="Calibri"/>
              </a:rPr>
              <a:t>GreenPinkCamera Injectable Teardown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029200"/>
            <a:ext cx="106984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Calibri"/>
              </a:rPr>
              <a:t>Flexiv Rizon4 · 6-state FSM · primitive / Cartesian / joint-impedance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Controller Has Two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58368"/>
            <a:ext cx="111556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9C6E6"/>
                </a:solidFill>
                <a:latin typeface="Calibri"/>
              </a:rPr>
              <a:t>Describe every state with BOTH layers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486400" cy="512064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1206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2A44"/>
                </a:solidFill>
                <a:latin typeface="Calibri"/>
              </a:rPr>
              <a:t>Layer 1 — Flexiv RDK Control Mode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51206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4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48463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6B4EC4"/>
                </a:solidFill>
                <a:latin typeface="Calibri"/>
              </a:rPr>
              <a:t>NRT_PRIMITIVE_EXECUTION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8463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Calibri"/>
              </a:rPr>
              <a:t>Runs Flexiv primitives: MovePTP, MoveL, MoveC, InsertComp, FloatingCartesian, Contact, GraspComp, ZeroFTSensor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83280"/>
            <a:ext cx="51206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A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474720"/>
            <a:ext cx="48463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EA05A"/>
                </a:solidFill>
                <a:latin typeface="Calibri"/>
              </a:rPr>
              <a:t>NRT_CARTESIAN_MOTION_FORCE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40480"/>
            <a:ext cx="48463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Calibri"/>
              </a:rPr>
              <a:t>Direct operational-space motion / force (grasp descent)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754880"/>
            <a:ext cx="51206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846320"/>
            <a:ext cx="48463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E6FD6"/>
                </a:solidFill>
                <a:latin typeface="Calibri"/>
              </a:rPr>
              <a:t>NRT_JOINT_IMPEDANCE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12080"/>
            <a:ext cx="48463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Calibri"/>
              </a:rPr>
              <a:t>Joint hold: SendJointPosition + SetJointImpedance (park arm rigidly during gripper-only actions)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280160"/>
            <a:ext cx="5486400" cy="512064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417320"/>
            <a:ext cx="51206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2A44"/>
                </a:solidFill>
                <a:latin typeface="Calibri"/>
              </a:rPr>
              <a:t>Layer 2 — Control Paradigm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783080"/>
            <a:ext cx="51206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Calibri"/>
              </a:rPr>
              <a:t>the Force / Joint / Operational language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2240280"/>
            <a:ext cx="5120640" cy="1234440"/>
          </a:xfrm>
          <a:prstGeom prst="round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350008"/>
            <a:ext cx="48463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JOINT 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743200"/>
            <a:ext cx="48463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MovePTP (planned in joint space, % vel scale), joint-impedance hold, the cap twist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3611880"/>
            <a:ext cx="5120640" cy="1234440"/>
          </a:xfrm>
          <a:prstGeom prst="roundRect">
            <a:avLst/>
          </a:prstGeom>
          <a:solidFill>
            <a:srgbClr val="2EA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721608"/>
            <a:ext cx="48463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OPERATIONAL / CARTESIAN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114800"/>
            <a:ext cx="48463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MoveL, MoveC — commanded in m/s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4983480"/>
            <a:ext cx="5120640" cy="1234440"/>
          </a:xfrm>
          <a:prstGeom prst="roundRect">
            <a:avLst/>
          </a:prstGeom>
          <a:solidFill>
            <a:srgbClr val="D6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5093208"/>
            <a:ext cx="48463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FORCE / COMPLIANCE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486400"/>
            <a:ext cx="48463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InsertComp, FloatingCartesian, Contact, GraspComp, Cartesian impedance, gripper force-target 80 N, vise close-to-force 5 kg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58368"/>
            <a:ext cx="111556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9C6E6"/>
                </a:solidFill>
                <a:latin typeface="Calibri"/>
              </a:rPr>
              <a:t>6 states · transition guards make it a real FSM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757629" cy="1188720"/>
          </a:xfrm>
          <a:prstGeom prst="round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757629" cy="11887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Initialization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05685" y="1554480"/>
            <a:ext cx="182880" cy="11887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5B6372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61133" y="1554480"/>
            <a:ext cx="1757629" cy="1188720"/>
          </a:xfrm>
          <a:prstGeom prst="round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61133" y="1554480"/>
            <a:ext cx="1757629" cy="11887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Module
Localization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09618" y="1554480"/>
            <a:ext cx="182880" cy="11887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5B6372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5066" y="1554480"/>
            <a:ext cx="1757629" cy="1188720"/>
          </a:xfrm>
          <a:prstGeom prst="roundRect">
            <a:avLst/>
          </a:prstGeom>
          <a:solidFill>
            <a:srgbClr val="D6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65066" y="1554480"/>
            <a:ext cx="1757629" cy="11887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Pick
Injectable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3551" y="1554480"/>
            <a:ext cx="182880" cy="11887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5B6372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8999" y="1554480"/>
            <a:ext cx="1757629" cy="1188720"/>
          </a:xfrm>
          <a:prstGeom prst="roundRect">
            <a:avLst/>
          </a:prstGeom>
          <a:solidFill>
            <a:srgbClr val="D6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8999" y="1554480"/>
            <a:ext cx="1757629" cy="11887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Load
Injectable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17484" y="1554480"/>
            <a:ext cx="182880" cy="11887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5B6372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2932" y="1554480"/>
            <a:ext cx="1757629" cy="1188720"/>
          </a:xfrm>
          <a:prstGeom prst="roundRect">
            <a:avLst/>
          </a:prstGeom>
          <a:solidFill>
            <a:srgbClr val="6B4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2932" y="1554480"/>
            <a:ext cx="1757629" cy="11887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Ultrasonic
Cutting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1417" y="1554480"/>
            <a:ext cx="182880" cy="11887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5B6372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76865" y="1554480"/>
            <a:ext cx="1757629" cy="1188720"/>
          </a:xfrm>
          <a:prstGeom prst="roundRect">
            <a:avLst/>
          </a:prstGeom>
          <a:solidFill>
            <a:srgbClr val="2EA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76865" y="1554480"/>
            <a:ext cx="1757629" cy="11887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Component
Disassembly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108960"/>
            <a:ext cx="11274552" cy="32461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20040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2A44"/>
                </a:solidFill>
                <a:latin typeface="Calibri"/>
              </a:rPr>
              <a:t>Transition guards (from recipe safety gates)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703320"/>
            <a:ext cx="29260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2A44"/>
                </a:solidFill>
                <a:latin typeface="Calibri"/>
              </a:rPr>
              <a:t>→ enter vise area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3703320"/>
            <a:ext cx="7772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B6372"/>
                </a:solidFill>
                <a:latin typeface="Calibri"/>
              </a:rPr>
              <a:t>Arduino busy=false, faulted=false, blade_on=false, homed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325112"/>
            <a:ext cx="29260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2A44"/>
                </a:solidFill>
                <a:latin typeface="Calibri"/>
              </a:rPr>
              <a:t>→ cut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4325112"/>
            <a:ext cx="7772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B6372"/>
                </a:solidFill>
                <a:latin typeface="Calibri"/>
              </a:rPr>
              <a:t>vise CLOSED, robot clear, rotary ≈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946903"/>
            <a:ext cx="29260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2A44"/>
                </a:solidFill>
                <a:latin typeface="Calibri"/>
              </a:rPr>
              <a:t>→ after cut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4946903"/>
            <a:ext cx="7772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B6372"/>
                </a:solidFill>
                <a:latin typeface="Calibri"/>
              </a:rPr>
              <a:t>CUT_HEIGHT=DONE, blade_on=false, x=z=0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568695"/>
            <a:ext cx="29260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2A44"/>
                </a:solidFill>
                <a:latin typeface="Calibri"/>
              </a:rPr>
              <a:t>fault edge (any state)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5568695"/>
            <a:ext cx="7772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B6372"/>
                </a:solidFill>
                <a:latin typeface="Calibri"/>
              </a:rPr>
              <a:t>→ STOP_ALL (fault handler)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Controller Legend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58368"/>
            <a:ext cx="111556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9C6E6"/>
                </a:solidFill>
                <a:latin typeface="Calibri"/>
              </a:rPr>
              <a:t>Color code reused on every state slide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457200" cy="1371600"/>
          </a:xfrm>
          <a:prstGeom prst="round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417320"/>
            <a:ext cx="10698480" cy="137160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554480"/>
            <a:ext cx="4114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E6FD6"/>
                </a:solidFill>
                <a:latin typeface="Calibri"/>
              </a:rPr>
              <a:t>JOINT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130552"/>
            <a:ext cx="45720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Calibri"/>
              </a:rPr>
              <a:t>NRT_JOINT_IMPEDANCE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554480"/>
            <a:ext cx="6035040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F2A44"/>
                </a:solidFill>
                <a:latin typeface="Calibri"/>
              </a:rPr>
              <a:t>Primitives: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F2A44"/>
                </a:solidFill>
                <a:latin typeface="Calibri"/>
              </a:rPr>
              <a:t>MovePTP · joint hold · cap twist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90088"/>
            <a:ext cx="457200" cy="1371600"/>
          </a:xfrm>
          <a:prstGeom prst="roundRect">
            <a:avLst/>
          </a:prstGeom>
          <a:solidFill>
            <a:srgbClr val="2EA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2990088"/>
            <a:ext cx="10698480" cy="137160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127248"/>
            <a:ext cx="4114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EA05A"/>
                </a:solidFill>
                <a:latin typeface="Calibri"/>
              </a:rPr>
              <a:t>OPERATIONAL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703320"/>
            <a:ext cx="45720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Calibri"/>
              </a:rPr>
              <a:t>NRT_CARTESIAN_MOTION_FORCE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127248"/>
            <a:ext cx="6035040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F2A44"/>
                </a:solidFill>
                <a:latin typeface="Calibri"/>
              </a:rPr>
              <a:t>Primitives: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F2A44"/>
                </a:solidFill>
                <a:latin typeface="Calibri"/>
              </a:rPr>
              <a:t>MoveL · MoveC (m/s)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62856"/>
            <a:ext cx="457200" cy="1371600"/>
          </a:xfrm>
          <a:prstGeom prst="roundRect">
            <a:avLst/>
          </a:prstGeom>
          <a:solidFill>
            <a:srgbClr val="D6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5840" y="4562856"/>
            <a:ext cx="10698480" cy="137160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4700016"/>
            <a:ext cx="4114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D63B3B"/>
                </a:solidFill>
                <a:latin typeface="Calibri"/>
              </a:rPr>
              <a:t>FORCE / 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276088"/>
            <a:ext cx="45720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Calibri"/>
              </a:rPr>
              <a:t>force-aware primitives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700016"/>
            <a:ext cx="6035040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F2A44"/>
                </a:solidFill>
                <a:latin typeface="Calibri"/>
              </a:rPr>
              <a:t>Primitives: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F2A44"/>
                </a:solidFill>
                <a:latin typeface="Calibri"/>
              </a:rPr>
              <a:t>InsertComp · FloatingCartesian · Contact · GraspComp · gripper 80 N · vise 5 kg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State 1 — Initialization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58368"/>
            <a:ext cx="111556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9C6E6"/>
                </a:solidFill>
                <a:latin typeface="Calibri"/>
              </a:rPr>
              <a:t>Bring robot, gripper and machine to a known safe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20116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Calibri"/>
              </a:rPr>
              <a:t>CONTROL: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91640" y="1115568"/>
            <a:ext cx="1440180" cy="365760"/>
          </a:xfrm>
          <a:prstGeom prst="round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1115568"/>
            <a:ext cx="144018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Joint-space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1548" y="1115568"/>
            <a:ext cx="1056132" cy="365760"/>
          </a:xfrm>
          <a:prstGeom prst="roundRect">
            <a:avLst/>
          </a:prstGeom>
          <a:solidFill>
            <a:srgbClr val="D6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1548" y="1115568"/>
            <a:ext cx="1056132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Gripper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Primitive / action sequence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94560"/>
            <a:ext cx="676656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6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194560"/>
            <a:ext cx="109728" cy="566928"/>
          </a:xfrm>
          <a:prstGeom prst="roundRect">
            <a:avLst/>
          </a:prstGeom>
          <a:solidFill>
            <a:srgbClr val="D6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194560"/>
            <a:ext cx="64008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63B3B"/>
                </a:solidFill>
                <a:latin typeface="Calibri"/>
              </a:rPr>
              <a:t>1.  </a:t>
            </a:r>
            <a:r>
              <a:rPr sz="1350" b="0">
                <a:solidFill>
                  <a:srgbClr val="1F2A44"/>
                </a:solidFill>
                <a:latin typeface="Calibri"/>
              </a:rPr>
              <a:t>gripper open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52928"/>
            <a:ext cx="676656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852928"/>
            <a:ext cx="109728" cy="566928"/>
          </a:xfrm>
          <a:prstGeom prst="round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852928"/>
            <a:ext cx="64008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6FD6"/>
                </a:solidFill>
                <a:latin typeface="Calibri"/>
              </a:rPr>
              <a:t>2.  </a:t>
            </a:r>
            <a:r>
              <a:rPr sz="1350" b="0">
                <a:solidFill>
                  <a:srgbClr val="1F2A44"/>
                </a:solidFill>
                <a:latin typeface="Calibri"/>
              </a:rPr>
              <a:t>MovePTP → Inter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11296"/>
            <a:ext cx="676656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511296"/>
            <a:ext cx="109728" cy="566928"/>
          </a:xfrm>
          <a:prstGeom prst="round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11296"/>
            <a:ext cx="64008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6FD6"/>
                </a:solidFill>
                <a:latin typeface="Calibri"/>
              </a:rPr>
              <a:t>3.  </a:t>
            </a:r>
            <a:r>
              <a:rPr sz="1350" b="0">
                <a:solidFill>
                  <a:srgbClr val="1F2A44"/>
                </a:solidFill>
                <a:latin typeface="Calibri"/>
              </a:rPr>
              <a:t>MovePTP → Home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2194560"/>
            <a:ext cx="4023360" cy="192024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2331720"/>
            <a:ext cx="3657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Calibri"/>
              </a:rPr>
              <a:t>RDK control 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2697480"/>
            <a:ext cx="365760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2A44"/>
                </a:solidFill>
                <a:latin typeface="Calibri"/>
              </a:rPr>
              <a:t>NRT_PRIMITIVE_EXECUTION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79" y="4251960"/>
            <a:ext cx="4023360" cy="182880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60" y="4389120"/>
            <a:ext cx="3657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Calibri"/>
              </a:rPr>
              <a:t>Defining parameters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4754880"/>
            <a:ext cx="365760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F2A44"/>
                </a:solidFill>
                <a:latin typeface="Calibri"/>
              </a:rPr>
              <a:t>MOVE_JNT_VEL_SCALE = 80%  ·  gripper 0.05 m/s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State 2 — Module Localization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58368"/>
            <a:ext cx="111556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9C6E6"/>
                </a:solidFill>
                <a:latin typeface="Calibri"/>
              </a:rPr>
              <a:t>Re-localize the vise via ChArUco before any vise interaction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20116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Calibri"/>
              </a:rPr>
              <a:t>CONTROL: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91640" y="1115568"/>
            <a:ext cx="1440180" cy="365760"/>
          </a:xfrm>
          <a:prstGeom prst="round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1115568"/>
            <a:ext cx="144018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Joint-space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1548" y="1115568"/>
            <a:ext cx="3168396" cy="365760"/>
          </a:xfrm>
          <a:prstGeom prst="roundRect">
            <a:avLst/>
          </a:prstGeom>
          <a:solidFill>
            <a:srgbClr val="6B4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1548" y="1115568"/>
            <a:ext cx="3168396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Vision (no closed-loop force)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Primitive / action sequence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94560"/>
            <a:ext cx="676656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194560"/>
            <a:ext cx="109728" cy="566928"/>
          </a:xfrm>
          <a:prstGeom prst="round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194560"/>
            <a:ext cx="64008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6FD6"/>
                </a:solidFill>
                <a:latin typeface="Calibri"/>
              </a:rPr>
              <a:t>1.  </a:t>
            </a:r>
            <a:r>
              <a:rPr sz="1350" b="0">
                <a:solidFill>
                  <a:srgbClr val="1F2A44"/>
                </a:solidFill>
                <a:latin typeface="Calibri"/>
              </a:rPr>
              <a:t>MovePTP → Vise-cali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52928"/>
            <a:ext cx="676656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4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852928"/>
            <a:ext cx="109728" cy="566928"/>
          </a:xfrm>
          <a:prstGeom prst="roundRect">
            <a:avLst/>
          </a:prstGeom>
          <a:solidFill>
            <a:srgbClr val="6B4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852928"/>
            <a:ext cx="64008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4EC4"/>
                </a:solidFill>
                <a:latin typeface="Calibri"/>
              </a:rPr>
              <a:t>2.  </a:t>
            </a:r>
            <a:r>
              <a:rPr sz="1350" b="0">
                <a:solidFill>
                  <a:srgbClr val="1F2A44"/>
                </a:solidFill>
                <a:latin typeface="Calibri"/>
              </a:rPr>
              <a:t>ChArUco detect (cali tag 1/2/3)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11296"/>
            <a:ext cx="676656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4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511296"/>
            <a:ext cx="109728" cy="566928"/>
          </a:xfrm>
          <a:prstGeom prst="roundRect">
            <a:avLst/>
          </a:prstGeom>
          <a:solidFill>
            <a:srgbClr val="6B4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11296"/>
            <a:ext cx="64008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4EC4"/>
                </a:solidFill>
                <a:latin typeface="Calibri"/>
              </a:rPr>
              <a:t>3.  </a:t>
            </a:r>
            <a:r>
              <a:rPr sz="1350" b="0">
                <a:solidFill>
                  <a:srgbClr val="1F2A44"/>
                </a:solidFill>
                <a:latin typeface="Calibri"/>
              </a:rPr>
              <a:t>reload Vise.json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69663"/>
            <a:ext cx="676656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4169663"/>
            <a:ext cx="109728" cy="566928"/>
          </a:xfrm>
          <a:prstGeom prst="round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169663"/>
            <a:ext cx="64008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6FD6"/>
                </a:solidFill>
                <a:latin typeface="Calibri"/>
              </a:rPr>
              <a:t>4.  </a:t>
            </a:r>
            <a:r>
              <a:rPr sz="1350" b="0">
                <a:solidFill>
                  <a:srgbClr val="1F2A44"/>
                </a:solidFill>
                <a:latin typeface="Calibri"/>
              </a:rPr>
              <a:t>MovePTP → Home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79" y="2194560"/>
            <a:ext cx="4023360" cy="192024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60" y="2331720"/>
            <a:ext cx="3657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Calibri"/>
              </a:rPr>
              <a:t>RDK control mode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2697480"/>
            <a:ext cx="365760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2A44"/>
                </a:solidFill>
                <a:latin typeface="Calibri"/>
              </a:rPr>
              <a:t>NRT_PRIMITIVE_EXECUTION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26679" y="4251960"/>
            <a:ext cx="4023360" cy="182880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9560" y="4389120"/>
            <a:ext cx="3657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Calibri"/>
              </a:rPr>
              <a:t>Defining parameters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4754880"/>
            <a:ext cx="365760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F2A44"/>
                </a:solidFill>
                <a:latin typeface="Calibri"/>
              </a:rPr>
              <a:t>hand-eye camera_tcp.yaml  ·  tag_01_to_vise_tcp.json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State 3 — Pick Injectable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58368"/>
            <a:ext cx="111556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9C6E6"/>
                </a:solidFill>
                <a:latin typeface="Calibri"/>
              </a:rPr>
              <a:t>Camera-aligned approach + contact-guided adaptive grasp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20116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Calibri"/>
              </a:rPr>
              <a:t>CONTROL: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91640" y="1115568"/>
            <a:ext cx="1440180" cy="365760"/>
          </a:xfrm>
          <a:prstGeom prst="roundRect">
            <a:avLst/>
          </a:prstGeom>
          <a:solidFill>
            <a:srgbClr val="2EA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1115568"/>
            <a:ext cx="144018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Operational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1548" y="1115568"/>
            <a:ext cx="2400300" cy="365760"/>
          </a:xfrm>
          <a:prstGeom prst="roundRect">
            <a:avLst/>
          </a:prstGeom>
          <a:solidFill>
            <a:srgbClr val="D6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1548" y="1115568"/>
            <a:ext cx="240030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Force (contact grasp)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Primitive / action sequence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94560"/>
            <a:ext cx="676656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194560"/>
            <a:ext cx="109728" cy="566928"/>
          </a:xfrm>
          <a:prstGeom prst="round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194560"/>
            <a:ext cx="64008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6FD6"/>
                </a:solidFill>
                <a:latin typeface="Calibri"/>
              </a:rPr>
              <a:t>1.  </a:t>
            </a:r>
            <a:r>
              <a:rPr sz="1350" b="0">
                <a:solidFill>
                  <a:srgbClr val="1F2A44"/>
                </a:solidFill>
                <a:latin typeface="Calibri"/>
              </a:rPr>
              <a:t>MovePTP → Plate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52928"/>
            <a:ext cx="676656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A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852928"/>
            <a:ext cx="109728" cy="566928"/>
          </a:xfrm>
          <a:prstGeom prst="roundRect">
            <a:avLst/>
          </a:prstGeom>
          <a:solidFill>
            <a:srgbClr val="2EA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852928"/>
            <a:ext cx="64008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A05A"/>
                </a:solidFill>
                <a:latin typeface="Calibri"/>
              </a:rPr>
              <a:t>2.  </a:t>
            </a:r>
            <a:r>
              <a:rPr sz="1350" b="0">
                <a:solidFill>
                  <a:srgbClr val="1F2A44"/>
                </a:solidFill>
                <a:latin typeface="Calibri"/>
              </a:rPr>
              <a:t>Align Injectable (MoveL)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11296"/>
            <a:ext cx="676656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6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511296"/>
            <a:ext cx="109728" cy="566928"/>
          </a:xfrm>
          <a:prstGeom prst="roundRect">
            <a:avLst/>
          </a:prstGeom>
          <a:solidFill>
            <a:srgbClr val="D6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11296"/>
            <a:ext cx="64008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63B3B"/>
                </a:solidFill>
                <a:latin typeface="Calibri"/>
              </a:rPr>
              <a:t>3.  </a:t>
            </a:r>
            <a:r>
              <a:rPr sz="1350" b="0">
                <a:solidFill>
                  <a:srgbClr val="1F2A44"/>
                </a:solidFill>
                <a:latin typeface="Calibri"/>
              </a:rPr>
              <a:t>ZeroFTSensor → Contact → GraspComp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69663"/>
            <a:ext cx="676656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A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4169663"/>
            <a:ext cx="109728" cy="566928"/>
          </a:xfrm>
          <a:prstGeom prst="roundRect">
            <a:avLst/>
          </a:prstGeom>
          <a:solidFill>
            <a:srgbClr val="2EA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169663"/>
            <a:ext cx="64008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A05A"/>
                </a:solidFill>
                <a:latin typeface="Calibri"/>
              </a:rPr>
              <a:t>4.  </a:t>
            </a:r>
            <a:r>
              <a:rPr sz="1350" b="0">
                <a:solidFill>
                  <a:srgbClr val="1F2A44"/>
                </a:solidFill>
                <a:latin typeface="Calibri"/>
              </a:rPr>
              <a:t>MoveL lift +20 cm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79" y="2194560"/>
            <a:ext cx="4023360" cy="192024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60" y="2331720"/>
            <a:ext cx="3657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Calibri"/>
              </a:rPr>
              <a:t>RDK control mode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2697480"/>
            <a:ext cx="365760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2A44"/>
                </a:solidFill>
                <a:latin typeface="Calibri"/>
              </a:rPr>
              <a:t>NRT_PRIMITIVE_EXECUTION  +  NRT_CARTESIAN_MOTION_FORCE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26679" y="4251960"/>
            <a:ext cx="4023360" cy="182880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9560" y="4389120"/>
            <a:ext cx="3657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Calibri"/>
              </a:rPr>
              <a:t>Defining parameters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4754880"/>
            <a:ext cx="365760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F2A44"/>
                </a:solidFill>
                <a:latin typeface="Calibri"/>
              </a:rPr>
              <a:t>align 0.02 m/s  ·  contact 0.05 m/s  ·  grip 80 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State 4 — Load Injectable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58368"/>
            <a:ext cx="111556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9C6E6"/>
                </a:solidFill>
                <a:latin typeface="Calibri"/>
              </a:rPr>
              <a:t>SHOWCASE STATE — cycles through all three RDK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20116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Calibri"/>
              </a:rPr>
              <a:t>CONTROL: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91640" y="1115568"/>
            <a:ext cx="1920240" cy="365760"/>
          </a:xfrm>
          <a:prstGeom prst="roundRect">
            <a:avLst/>
          </a:prstGeom>
          <a:solidFill>
            <a:srgbClr val="D6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1115568"/>
            <a:ext cx="192024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Force/compliance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21608" y="1115568"/>
            <a:ext cx="1536192" cy="365760"/>
          </a:xfrm>
          <a:prstGeom prst="round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1115568"/>
            <a:ext cx="1536192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→ Joint hold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67528" y="1115568"/>
            <a:ext cx="1632204" cy="365760"/>
          </a:xfrm>
          <a:prstGeom prst="roundRect">
            <a:avLst/>
          </a:prstGeom>
          <a:solidFill>
            <a:srgbClr val="2EA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67528" y="1115568"/>
            <a:ext cx="1632204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→ Operational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73736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Primitive / action sequence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194560"/>
            <a:ext cx="676656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194560"/>
            <a:ext cx="109728" cy="566928"/>
          </a:xfrm>
          <a:prstGeom prst="round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194560"/>
            <a:ext cx="64008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6FD6"/>
                </a:solidFill>
                <a:latin typeface="Calibri"/>
              </a:rPr>
              <a:t>1.  </a:t>
            </a:r>
            <a:r>
              <a:rPr sz="1350" b="0">
                <a:solidFill>
                  <a:srgbClr val="1F2A44"/>
                </a:solidFill>
                <a:latin typeface="Calibri"/>
              </a:rPr>
              <a:t>MovePTP → above_vise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852928"/>
            <a:ext cx="676656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6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2852928"/>
            <a:ext cx="109728" cy="566928"/>
          </a:xfrm>
          <a:prstGeom prst="roundRect">
            <a:avLst/>
          </a:prstGeom>
          <a:solidFill>
            <a:srgbClr val="D6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852928"/>
            <a:ext cx="64008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63B3B"/>
                </a:solidFill>
                <a:latin typeface="Calibri"/>
              </a:rPr>
              <a:t>2.  </a:t>
            </a:r>
            <a:r>
              <a:rPr sz="1350" b="0">
                <a:solidFill>
                  <a:srgbClr val="1F2A44"/>
                </a:solidFill>
                <a:latin typeface="Calibri"/>
              </a:rPr>
              <a:t>InsertComp (−Z → TCP X)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11296"/>
            <a:ext cx="676656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6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511296"/>
            <a:ext cx="109728" cy="566928"/>
          </a:xfrm>
          <a:prstGeom prst="roundRect">
            <a:avLst/>
          </a:prstGeom>
          <a:solidFill>
            <a:srgbClr val="D6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511296"/>
            <a:ext cx="64008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63B3B"/>
                </a:solidFill>
                <a:latin typeface="Calibri"/>
              </a:rPr>
              <a:t>3.  </a:t>
            </a:r>
            <a:r>
              <a:rPr sz="1350" b="0">
                <a:solidFill>
                  <a:srgbClr val="1F2A44"/>
                </a:solidFill>
                <a:latin typeface="Calibri"/>
              </a:rPr>
              <a:t>FloatingCartesian y/z/rx while vise → 5 kg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169663"/>
            <a:ext cx="676656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4169663"/>
            <a:ext cx="109728" cy="566928"/>
          </a:xfrm>
          <a:prstGeom prst="round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169663"/>
            <a:ext cx="64008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6FD6"/>
                </a:solidFill>
                <a:latin typeface="Calibri"/>
              </a:rPr>
              <a:t>4.  </a:t>
            </a:r>
            <a:r>
              <a:rPr sz="1350" b="0">
                <a:solidFill>
                  <a:srgbClr val="1F2A44"/>
                </a:solidFill>
                <a:latin typeface="Calibri"/>
              </a:rPr>
              <a:t>joint hold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828031"/>
            <a:ext cx="676656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6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4828031"/>
            <a:ext cx="109728" cy="566928"/>
          </a:xfrm>
          <a:prstGeom prst="roundRect">
            <a:avLst/>
          </a:prstGeom>
          <a:solidFill>
            <a:srgbClr val="D6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828031"/>
            <a:ext cx="64008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63B3B"/>
                </a:solidFill>
                <a:latin typeface="Calibri"/>
              </a:rPr>
              <a:t>5.  </a:t>
            </a:r>
            <a:r>
              <a:rPr sz="1350" b="0">
                <a:solidFill>
                  <a:srgbClr val="1F2A44"/>
                </a:solidFill>
                <a:latin typeface="Calibri"/>
              </a:rPr>
              <a:t>gripper release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486399"/>
            <a:ext cx="676656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A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" y="5486399"/>
            <a:ext cx="109728" cy="566928"/>
          </a:xfrm>
          <a:prstGeom prst="roundRect">
            <a:avLst/>
          </a:prstGeom>
          <a:solidFill>
            <a:srgbClr val="2EA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486399"/>
            <a:ext cx="64008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A05A"/>
                </a:solidFill>
                <a:latin typeface="Calibri"/>
              </a:rPr>
              <a:t>6.  </a:t>
            </a:r>
            <a:r>
              <a:rPr sz="1350" b="0">
                <a:solidFill>
                  <a:srgbClr val="1F2A44"/>
                </a:solidFill>
                <a:latin typeface="Calibri"/>
              </a:rPr>
              <a:t>MoveL retreat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26679" y="2194560"/>
            <a:ext cx="4023360" cy="192024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09560" y="2331720"/>
            <a:ext cx="3657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Calibri"/>
              </a:rPr>
              <a:t>RDK control mode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2697480"/>
            <a:ext cx="365760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2A44"/>
                </a:solidFill>
                <a:latin typeface="Calibri"/>
              </a:rPr>
              <a:t>ALL THREE: PRIMITIVE_EXECUTION · CARTESIAN_MOTION_FORCE · JOINT_IMPEDANCE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26679" y="4251960"/>
            <a:ext cx="4023360" cy="182880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09560" y="4389120"/>
            <a:ext cx="3657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Calibri"/>
              </a:rPr>
              <a:t>Defining parameters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4754880"/>
            <a:ext cx="365760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F2A44"/>
                </a:solidFill>
                <a:latin typeface="Calibri"/>
              </a:rPr>
              <a:t>INSERTCOMP_INSERT_VEL = 0.02  ·  maxContactForce  ·  float maxVel 0.2 m/s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State 5 — Ultrasonic Cutting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58368"/>
            <a:ext cx="111556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9C6E6"/>
                </a:solidFill>
                <a:latin typeface="Calibri"/>
              </a:rPr>
              <a:t>Machine cuts while robot waits clear; then grip + twist off 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20116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Calibri"/>
              </a:rPr>
              <a:t>CONTROL: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91640" y="1115568"/>
            <a:ext cx="1056132" cy="365760"/>
          </a:xfrm>
          <a:prstGeom prst="roundRect">
            <a:avLst/>
          </a:prstGeom>
          <a:solidFill>
            <a:srgbClr val="6B4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1115568"/>
            <a:ext cx="1056132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Machine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7500" y="1115568"/>
            <a:ext cx="1440180" cy="365760"/>
          </a:xfrm>
          <a:prstGeom prst="roundRect">
            <a:avLst/>
          </a:prstGeom>
          <a:solidFill>
            <a:srgbClr val="D6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7500" y="1115568"/>
            <a:ext cx="144018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Force-float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115568"/>
            <a:ext cx="2016252" cy="365760"/>
          </a:xfrm>
          <a:prstGeom prst="round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1115568"/>
            <a:ext cx="2016252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Joint-space twist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73736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Primitive / action sequence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194560"/>
            <a:ext cx="676656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4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194560"/>
            <a:ext cx="109728" cy="566928"/>
          </a:xfrm>
          <a:prstGeom prst="roundRect">
            <a:avLst/>
          </a:prstGeom>
          <a:solidFill>
            <a:srgbClr val="6B4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194560"/>
            <a:ext cx="64008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4EC4"/>
                </a:solidFill>
                <a:latin typeface="Calibri"/>
              </a:rPr>
              <a:t>1.  </a:t>
            </a:r>
            <a:r>
              <a:rPr sz="1350" b="0">
                <a:solidFill>
                  <a:srgbClr val="1F2A44"/>
                </a:solidFill>
                <a:latin typeface="Calibri"/>
              </a:rPr>
              <a:t>Arduino CUT_HEIGHT (robot idle/clear)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852928"/>
            <a:ext cx="676656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A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2852928"/>
            <a:ext cx="109728" cy="566928"/>
          </a:xfrm>
          <a:prstGeom prst="roundRect">
            <a:avLst/>
          </a:prstGeom>
          <a:solidFill>
            <a:srgbClr val="2EA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852928"/>
            <a:ext cx="64008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A05A"/>
                </a:solidFill>
                <a:latin typeface="Calibri"/>
              </a:rPr>
              <a:t>2.  </a:t>
            </a:r>
            <a:r>
              <a:rPr sz="1350" b="0">
                <a:solidFill>
                  <a:srgbClr val="1F2A44"/>
                </a:solidFill>
                <a:latin typeface="Calibri"/>
              </a:rPr>
              <a:t>MoveL down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11296"/>
            <a:ext cx="676656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6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511296"/>
            <a:ext cx="109728" cy="566928"/>
          </a:xfrm>
          <a:prstGeom prst="roundRect">
            <a:avLst/>
          </a:prstGeom>
          <a:solidFill>
            <a:srgbClr val="D6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511296"/>
            <a:ext cx="64008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63B3B"/>
                </a:solidFill>
                <a:latin typeface="Calibri"/>
              </a:rPr>
              <a:t>3.  </a:t>
            </a:r>
            <a:r>
              <a:rPr sz="1350" b="0">
                <a:solidFill>
                  <a:srgbClr val="1F2A44"/>
                </a:solidFill>
                <a:latin typeface="Calibri"/>
              </a:rPr>
              <a:t>FloatingCartesian y/z/rx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169663"/>
            <a:ext cx="676656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6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4169663"/>
            <a:ext cx="109728" cy="566928"/>
          </a:xfrm>
          <a:prstGeom prst="roundRect">
            <a:avLst/>
          </a:prstGeom>
          <a:solidFill>
            <a:srgbClr val="D6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169663"/>
            <a:ext cx="64008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63B3B"/>
                </a:solidFill>
                <a:latin typeface="Calibri"/>
              </a:rPr>
              <a:t>4.  </a:t>
            </a:r>
            <a:r>
              <a:rPr sz="1350" b="0">
                <a:solidFill>
                  <a:srgbClr val="1F2A44"/>
                </a:solidFill>
                <a:latin typeface="Calibri"/>
              </a:rPr>
              <a:t>gripper 80 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828031"/>
            <a:ext cx="676656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4828031"/>
            <a:ext cx="109728" cy="566928"/>
          </a:xfrm>
          <a:prstGeom prst="round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828031"/>
            <a:ext cx="64008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6FD6"/>
                </a:solidFill>
                <a:latin typeface="Calibri"/>
              </a:rPr>
              <a:t>5.  </a:t>
            </a:r>
            <a:r>
              <a:rPr sz="1350" b="0">
                <a:solidFill>
                  <a:srgbClr val="1F2A44"/>
                </a:solidFill>
                <a:latin typeface="Calibri"/>
              </a:rPr>
              <a:t>twist about TCP X  0→+7→−10°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486399"/>
            <a:ext cx="676656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A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" y="5486399"/>
            <a:ext cx="109728" cy="566928"/>
          </a:xfrm>
          <a:prstGeom prst="roundRect">
            <a:avLst/>
          </a:prstGeom>
          <a:solidFill>
            <a:srgbClr val="2EA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486399"/>
            <a:ext cx="64008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A05A"/>
                </a:solidFill>
                <a:latin typeface="Calibri"/>
              </a:rPr>
              <a:t>6.  </a:t>
            </a:r>
            <a:r>
              <a:rPr sz="1350" b="0">
                <a:solidFill>
                  <a:srgbClr val="1F2A44"/>
                </a:solidFill>
                <a:latin typeface="Calibri"/>
              </a:rPr>
              <a:t>MoveL lift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26679" y="2194560"/>
            <a:ext cx="4023360" cy="192024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09560" y="2331720"/>
            <a:ext cx="3657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Calibri"/>
              </a:rPr>
              <a:t>RDK control mode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2697480"/>
            <a:ext cx="365760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2A44"/>
                </a:solidFill>
                <a:latin typeface="Calibri"/>
              </a:rPr>
              <a:t>NRT_PRIMITIVE_EXECUTION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26679" y="4251960"/>
            <a:ext cx="4023360" cy="182880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09560" y="4389120"/>
            <a:ext cx="3657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Calibri"/>
              </a:rPr>
              <a:t>Defining parameters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4754880"/>
            <a:ext cx="365760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F2A44"/>
                </a:solidFill>
                <a:latin typeface="Calibri"/>
              </a:rPr>
              <a:t>CUT z=134.2, x=110.5, deg=360  ·  twist scale 20%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State 6 — Component Disassembly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58368"/>
            <a:ext cx="111556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9C6E6"/>
                </a:solidFill>
                <a:latin typeface="Calibri"/>
              </a:rPr>
              <a:t>Fast-mode pick-and-place of spring, plastic, shell &amp; glass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20116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Calibri"/>
              </a:rPr>
              <a:t>CONTROL: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91640" y="1115568"/>
            <a:ext cx="1632204" cy="365760"/>
          </a:xfrm>
          <a:prstGeom prst="round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1115568"/>
            <a:ext cx="1632204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Joint transit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3572" y="1115568"/>
            <a:ext cx="1440180" cy="365760"/>
          </a:xfrm>
          <a:prstGeom prst="roundRect">
            <a:avLst/>
          </a:prstGeom>
          <a:solidFill>
            <a:srgbClr val="2EA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33572" y="1115568"/>
            <a:ext cx="144018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Operational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1115568"/>
            <a:ext cx="1344168" cy="365760"/>
          </a:xfrm>
          <a:prstGeom prst="roundRect">
            <a:avLst/>
          </a:prstGeom>
          <a:solidFill>
            <a:srgbClr val="D6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1115568"/>
            <a:ext cx="1344168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Force-grip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73736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Primitive / action sequence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194560"/>
            <a:ext cx="676656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194560"/>
            <a:ext cx="109728" cy="566928"/>
          </a:xfrm>
          <a:prstGeom prst="round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194560"/>
            <a:ext cx="64008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6FD6"/>
                </a:solidFill>
                <a:latin typeface="Calibri"/>
              </a:rPr>
              <a:t>1.  </a:t>
            </a:r>
            <a:r>
              <a:rPr sz="1350" b="0">
                <a:solidFill>
                  <a:srgbClr val="1F2A44"/>
                </a:solidFill>
                <a:latin typeface="Calibri"/>
              </a:rPr>
              <a:t>MovePTP transit (×N)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852928"/>
            <a:ext cx="676656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A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2852928"/>
            <a:ext cx="109728" cy="566928"/>
          </a:xfrm>
          <a:prstGeom prst="roundRect">
            <a:avLst/>
          </a:prstGeom>
          <a:solidFill>
            <a:srgbClr val="2EA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852928"/>
            <a:ext cx="64008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A05A"/>
                </a:solidFill>
                <a:latin typeface="Calibri"/>
              </a:rPr>
              <a:t>2.  </a:t>
            </a:r>
            <a:r>
              <a:rPr sz="1350" b="0">
                <a:solidFill>
                  <a:srgbClr val="1F2A44"/>
                </a:solidFill>
                <a:latin typeface="Calibri"/>
              </a:rPr>
              <a:t>MoveL descend / lift 0.5 m/s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11296"/>
            <a:ext cx="676656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6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511296"/>
            <a:ext cx="109728" cy="566928"/>
          </a:xfrm>
          <a:prstGeom prst="roundRect">
            <a:avLst/>
          </a:prstGeom>
          <a:solidFill>
            <a:srgbClr val="D6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511296"/>
            <a:ext cx="64008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63B3B"/>
                </a:solidFill>
                <a:latin typeface="Calibri"/>
              </a:rPr>
              <a:t>3.  </a:t>
            </a:r>
            <a:r>
              <a:rPr sz="1350" b="0">
                <a:solidFill>
                  <a:srgbClr val="1F2A44"/>
                </a:solidFill>
                <a:latin typeface="Calibri"/>
              </a:rPr>
              <a:t>gripper 80 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169663"/>
            <a:ext cx="676656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4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4169663"/>
            <a:ext cx="109728" cy="566928"/>
          </a:xfrm>
          <a:prstGeom prst="roundRect">
            <a:avLst/>
          </a:prstGeom>
          <a:solidFill>
            <a:srgbClr val="6B4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169663"/>
            <a:ext cx="64008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4EC4"/>
                </a:solidFill>
                <a:latin typeface="Calibri"/>
              </a:rPr>
              <a:t>4.  </a:t>
            </a:r>
            <a:r>
              <a:rPr sz="1350" b="0">
                <a:solidFill>
                  <a:srgbClr val="1F2A44"/>
                </a:solidFill>
                <a:latin typeface="Calibri"/>
              </a:rPr>
              <a:t>Arduino OPEN_VISE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828031"/>
            <a:ext cx="676656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A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4828031"/>
            <a:ext cx="109728" cy="566928"/>
          </a:xfrm>
          <a:prstGeom prst="roundRect">
            <a:avLst/>
          </a:prstGeom>
          <a:solidFill>
            <a:srgbClr val="2EA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828031"/>
            <a:ext cx="64008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A05A"/>
                </a:solidFill>
                <a:latin typeface="Calibri"/>
              </a:rPr>
              <a:t>5.  </a:t>
            </a:r>
            <a:r>
              <a:rPr sz="1350" b="0">
                <a:solidFill>
                  <a:srgbClr val="1F2A44"/>
                </a:solidFill>
                <a:latin typeface="Calibri"/>
              </a:rPr>
              <a:t>MoveC dump arc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26679" y="2194560"/>
            <a:ext cx="4023360" cy="192024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2331720"/>
            <a:ext cx="3657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Calibri"/>
              </a:rPr>
              <a:t>RDK control mode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2697480"/>
            <a:ext cx="365760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2A44"/>
                </a:solidFill>
                <a:latin typeface="Calibri"/>
              </a:rPr>
              <a:t>NRT_PRIMITIVE_EXECUTION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26679" y="4251960"/>
            <a:ext cx="4023360" cy="182880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09560" y="4389120"/>
            <a:ext cx="3657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Calibri"/>
              </a:rPr>
              <a:t>Defining parameters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4754880"/>
            <a:ext cx="365760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F2A44"/>
                </a:solidFill>
                <a:latin typeface="Calibri"/>
              </a:rPr>
              <a:t>FRAME5_CARTESIAN_VEL = 0.5 m/s  ·  dump 0.03 m/s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Two Things To Remember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698480" cy="2011680"/>
          </a:xfrm>
          <a:prstGeom prst="roundRect">
            <a:avLst/>
          </a:prstGeom>
          <a:solidFill>
            <a:srgbClr val="2A3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83080"/>
            <a:ext cx="10149840" cy="1645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9DC4FF"/>
                </a:solidFill>
                <a:latin typeface="Calibri"/>
              </a:rPr>
              <a:t>1 · Color-code by control paradigm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D9E2F2"/>
                </a:solidFill>
                <a:latin typeface="Calibri"/>
              </a:rPr>
              <a:t>Blue = joint, green = operational, red = force — consistent across the FSM and every state slide. Pick &amp; Load read as force-rich; Disassembly is mostly kinematic.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698480" cy="2194560"/>
          </a:xfrm>
          <a:prstGeom prst="roundRect">
            <a:avLst/>
          </a:prstGeom>
          <a:solidFill>
            <a:srgbClr val="2A3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1014984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B3B3"/>
                </a:solidFill>
                <a:latin typeface="Calibri"/>
              </a:rPr>
              <a:t>2 · Load Injectable is the showcase state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D9E2F2"/>
                </a:solidFill>
                <a:latin typeface="Calibri"/>
              </a:rPr>
              <a:t>It is the only state that cycles through all three RDK modes: compliant InsertComp → floating force → joint-impedance hold → Cartesian retreat. This is your 'we understand control architecture'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